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42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342B"/>
                </a:solidFill>
                <a:latin typeface="Arial"/>
              </a:rPr>
              <a:t>Profit Margin per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E155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55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A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A6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17</c:v>
                </c:pt>
                <c:pt idx="2">
                  <c:v>17.4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A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4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342B"/>
                </a:solidFill>
                <a:latin typeface="Arial"/>
              </a:rPr>
              <a:t>Sales vs Profit - Sub-Category Laris (Rp ribu)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($rb)</c:v>
                </c:pt>
              </c:strCache>
            </c:strRef>
          </c:tx>
          <c:spPr>
            <a:solidFill>
              <a:srgbClr val="1D9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Chairs</c:v>
                  </c:pt>
                  <c:pt idx="1">
                    <c:v>Storage</c:v>
                  </c:pt>
                  <c:pt idx="2">
                    <c:v>Tables</c:v>
                  </c:pt>
                  <c:pt idx="3">
                    <c:v>Machines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328</c:v>
                </c:pt>
                <c:pt idx="1">
                  <c:v>224</c:v>
                </c:pt>
                <c:pt idx="2">
                  <c:v>207</c:v>
                </c:pt>
                <c:pt idx="3">
                  <c:v>189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($rb)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Chairs</c:v>
                  </c:pt>
                  <c:pt idx="1">
                    <c:v>Storage</c:v>
                  </c:pt>
                  <c:pt idx="2">
                    <c:v>Tables</c:v>
                  </c:pt>
                  <c:pt idx="3">
                    <c:v>Machines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</c:v>
                </c:pt>
                <c:pt idx="1">
                  <c:v>21</c:v>
                </c:pt>
                <c:pt idx="2">
                  <c:v>-18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A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2A2A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42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342B"/>
                </a:solidFill>
                <a:latin typeface="Arial"/>
              </a:rPr>
              <a:t>Rata-rata Profit per Level Diskon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Profit ($)</c:v>
                </c:pt>
              </c:strCache>
            </c:strRef>
          </c:tx>
          <c:spPr>
            <a:solidFill>
              <a:srgbClr val="1D9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A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A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1555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1555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1-20%</c:v>
                  </c:pt>
                  <c:pt idx="2">
                    <c:v>21-40%</c:v>
                  </c:pt>
                  <c:pt idx="3">
                    <c:v>41%+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27</c:v>
                </c:pt>
                <c:pt idx="2">
                  <c:v>-78</c:v>
                </c:pt>
                <c:pt idx="3">
                  <c:v>-107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A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4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342B"/>
                </a:solidFill>
                <a:latin typeface="Arial"/>
              </a:rPr>
              <a:t>Total Profit per Kelompok Diskon (Rp ribu)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($rb)</c:v>
                </c:pt>
              </c:strCache>
            </c:strRef>
          </c:tx>
          <c:spPr>
            <a:solidFill>
              <a:srgbClr val="1D9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A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A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1555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Diskon &lt;=20%</c:v>
                  </c:pt>
                  <c:pt idx="1">
                    <c:v>Diskon &gt;20%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422</c:v>
                </c:pt>
                <c:pt idx="1">
                  <c:v>-135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A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4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342B"/>
                </a:solidFill>
                <a:latin typeface="Arial"/>
              </a:rPr>
              <a:t>Total Profit per Region (Rp ribu)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($rb)</c:v>
                </c:pt>
              </c:strCache>
            </c:strRef>
          </c:tx>
          <c:spPr>
            <a:solidFill>
              <a:srgbClr val="1D9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47</c:v>
                </c:pt>
                <c:pt idx="2">
                  <c:v>92</c:v>
                </c:pt>
                <c:pt idx="3">
                  <c:v>108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A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42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4342B"/>
                </a:solidFill>
                <a:latin typeface="Arial"/>
              </a:rPr>
              <a:t>Profit Margin per Segment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A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A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A6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11.5</c:v>
                </c:pt>
                <c:pt idx="1">
                  <c:v>13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A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INSIGHT CHALLENGE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MindleStore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FE3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Profitabilitas Ritel — Kenapa Penjualan Tinggi tapi Laba Tipis?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F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(Bronze-Silver-Gold)  |  Tableau  |  9.977 transaksi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Understanding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8521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4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55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MindleStore mencatat penjualan besar, namun profit-nya tipis dan hampir 1 dari 5 transaksi justru merugi. Manajemen belum tahu apa yang menggerogoti laba - apakah produk tertentu, wilayah, atau praktik discount yang terlalu agresif.</a:t>
            </a:r>
            <a:endParaRPr lang="en-US" sz="15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14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Membedah profitabilitas per produk, region, segment, dan discount level untuk menemukan sumber kebocoran laba, lalu memberi rekomendasi menaikkan profit tanpa menurunkan sales.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0" y="1417320"/>
            <a:ext cx="4663440" cy="3794760"/>
          </a:xfrm>
          <a:prstGeom prst="roundRect">
            <a:avLst>
              <a:gd name="adj" fmla="val 2169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Questions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0" y="214884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 mana yang untung vs merugikan?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Adakah produk laris tapi rugi (paradox)?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&amp; state mana yang bermasalah?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discount berapa mulai rugi?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mana paling bernilai?</a:t>
            </a:r>
            <a:endParaRPr lang="en-US" sz="14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4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 naikin profit tanpa turunin sales?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9659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$2,3 jt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73736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9659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9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$286 rb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291840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73736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9659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12,5%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943600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0" y="1737360"/>
            <a:ext cx="2514600" cy="1463040"/>
          </a:xfrm>
          <a:prstGeom prst="roundRect">
            <a:avLst>
              <a:gd name="adj" fmla="val 5625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95360" y="19659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595360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Penjualan sehat, tapi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hanya 12,5%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18,7% transaksi merugi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(1.869 dari 9.977). Ada yang menggerogoti laba di balik penjualan yang tinggi - pertanyaannya: di mana?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 - Layered SQL Architecture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diproses bertahap (Medallion) agar bersih, terstruktur, dan siap dashboard.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383280" cy="109728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 apa adanya dari CSV (9.994 baris). Idempotent - aman dijalankan ulang.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920240"/>
            <a:ext cx="3383280" cy="109728"/>
          </a:xfrm>
          <a:prstGeom prst="roundRect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Cleaned: buang 17 duplikat, TRIM, + feature engineering (profit_margin, is_loss, discount_bucket). 9.977 baris.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920240"/>
            <a:ext cx="3383280" cy="109728"/>
          </a:xfrm>
          <a:prstGeom prst="roundRect">
            <a:avLst/>
          </a:prstGeom>
          <a:solidFill>
            <a:srgbClr val="1D9A6C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9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66760" y="27432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(dim + fact) + analytic views siap Tableau untuk menjawab tiap pertanyaan bisnis.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SQL Server (T-SQL) untuk analisis  |  Tableau Public untuk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menjual banyak, tapi margin-nya anjlok ke 2,5% - jauh di bawah kategori lain.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194560"/>
            <a:ext cx="3840480" cy="2377440"/>
          </a:xfrm>
          <a:prstGeom prst="roundRect">
            <a:avLst>
              <a:gd name="adj" fmla="val 3462"/>
            </a:avLst>
          </a:prstGeom>
          <a:solidFill>
            <a:srgbClr val="FBEEE9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- titik lemah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9560" y="2834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hanya $18 rb dari sales $742 rb.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2,5% - 7x lebih tipis dari Technology &amp; Office Supplies (17%).</a:t>
            </a:r>
            <a:endParaRPr lang="en-US" sz="13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masalah ada di dalam kategori ini.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Paradox - Laris tapi Rugi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Beberapa produk laris justru menggerus laba - inilah jawaban 'penjualan tinggi, laba tipis'.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210312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FBEEE9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(RUGI)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92440" y="27889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$207 rb (laris!)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-$17.725 (RUGI)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-8,6%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Machines: sales $189 rb, margin cuma 1,8%. Laku keras, laba nyaris nol.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Threshold - Pemicu Kerugian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garis merah yang jelas: begitu diskon lewat 20%, transaksi mulai rugi.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219456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2359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Diskon &lt;= 20% - aman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743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masih untung (+$27 s/d +$67 per transaksi).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63840" y="3749040"/>
            <a:ext cx="3657600" cy="1371600"/>
          </a:xfrm>
          <a:prstGeom prst="roundRect">
            <a:avLst>
              <a:gd name="adj" fmla="val 6000"/>
            </a:avLst>
          </a:prstGeom>
          <a:solidFill>
            <a:srgbClr val="FBEEE9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Diskon &gt; 20% - rugi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92440" y="4297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Rata-rata langsung minus (-$78 s/d -$107 per transaksi).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Membatasi Diskon (Cap 20%)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diskon tinggi menyeret laba - di sinilah peluang penyelamatan terbesar.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2286000"/>
            <a:ext cx="4297680" cy="2651760"/>
          </a:xfrm>
          <a:prstGeom prst="roundRect">
            <a:avLst>
              <a:gd name="adj" fmla="val 3103"/>
            </a:avLst>
          </a:prstGeom>
          <a:solidFill>
            <a:srgbClr val="FBEEE9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5236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Peluang terbesar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292608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diskon &gt;20% (1.391 txn) rugi -$135.358.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diskon &lt;=20% (8.586 txn) untung +$421.599.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b="1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Mengendalikan diskon &gt;20% = lever profit terbesar.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 &amp; State Analysis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paling bermasalah; kerugian terkonsentrasi di beberapa state.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2194560"/>
            <a:ext cx="4297680" cy="2743200"/>
          </a:xfrm>
          <a:prstGeom prst="roundRect">
            <a:avLst>
              <a:gd name="adj" fmla="val 3000"/>
            </a:avLst>
          </a:prstGeom>
          <a:solidFill>
            <a:srgbClr val="FBEEE9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5236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State Merugi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52360" y="28346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Texas          -$25.751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Ohio           -$16.959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Pennsylvania   -$15.565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A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Illinois       -$12.602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juga punya transaksi rugi terbanyak (740).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Office paling efisien; Consumer laris tapi margin-nya paling tipis.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2377440"/>
            <a:ext cx="3840480" cy="2011680"/>
          </a:xfrm>
          <a:prstGeom prst="roundRect">
            <a:avLst>
              <a:gd name="adj" fmla="val 4091"/>
            </a:avLst>
          </a:prstGeom>
          <a:solidFill>
            <a:srgbClr val="EAF3EE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9560" y="2971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menyumbang penjualan terbesar tapi margin-nya terendah (11,5%) - perlu dijaga agar diskonnya tidak berlebihan.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45920"/>
            <a:ext cx="411480" cy="411480"/>
          </a:xfrm>
          <a:prstGeom prst="ellipse">
            <a:avLst/>
          </a:prstGeom>
          <a:solidFill>
            <a:srgbClr val="E15554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508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5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Batasi diskon maksimal 20%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Diskon &gt;20% terbukti selalu merugi (-$135 rb total). Terapkan cap diskon &amp; approval khusus untuk diskon besar.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74320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6060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produk paradox (Tables, Machines)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971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Naikkan harga, kurangi diskon, atau tinjau ulang cost. Tables rugi -$17.725 meski laris.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840480"/>
            <a:ext cx="411480" cy="411480"/>
          </a:xfrm>
          <a:prstGeom prst="ellipse">
            <a:avLst/>
          </a:prstGeom>
          <a:solidFill>
            <a:srgbClr val="1D9A6C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7033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A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Perbaiki kategori &amp; wilayah bermasalah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40690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Furniture (margin 2,5%) dan region Central + state Texas/Ohio yang paling merugi.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14342B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4800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Jaga margin segment Consumer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51663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laris tapi margin terendah - kontrol diskon agar volume tidak mengorbankan laba.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D8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Penjualan MindleStore sehat, tetapi laba tergerus oleh diskon berlebihan dan produk laris bermargin negatif.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D8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Akar masalah: diskon &gt;20% (rugi -$135 rb), Furniture/Tables bermargin tipis-negatif, dan konsentrasi kerugian di Central &amp; Texas.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D8EC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mengendalikan diskon, menata ulang produk paradox, dan fokus wilayah bermasalah - profit dapat naik signifikan tanpa menurunkan penjualan.</a:t>
            </a:r>
            <a:endParaRPr lang="en-US" sz="16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Fokusnya bukan menjual lebih banyak, melainkan menjual lebih cerdas.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MindleStore — Analisis Profitabilitas Ritel</dc:title>
  <dc:subject>PptxGenJS Presentation</dc:subject>
  <dc:creator>Ghifarry Al Naffriza Shahdan</dc:creator>
  <cp:lastModifiedBy>Ghifarry Al Naffriza Shahdan</cp:lastModifiedBy>
  <cp:revision>1</cp:revision>
  <dcterms:created xsi:type="dcterms:W3CDTF">2026-07-10T08:46:19Z</dcterms:created>
  <dcterms:modified xsi:type="dcterms:W3CDTF">2026-07-10T08:46:19Z</dcterms:modified>
</cp:coreProperties>
</file>